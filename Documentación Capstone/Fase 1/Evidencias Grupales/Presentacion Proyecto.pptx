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Cabin"/>
      <p:regular r:id="rId201314"/>
    </p:embeddedFont>
    <p:embeddedFont>
      <p:font typeface="Cabin SemiBold"/>
      <p:regular r:id="rId201315"/>
    </p:embeddedFont>
    <p:embeddedFont>
      <p:font typeface="Cabin Bold"/>
      <p:regular r:id="rId201316"/>
    </p:embeddedFont>
    <p:embeddedFont>
      <p:font typeface="Unbounded"/>
      <p:regular r:id="rId201317"/>
    </p:embeddedFont>
    <p:embeddedFont>
      <p:font typeface="Unbounded Bold"/>
      <p:regular r:id="rId201318"/>
    </p:embeddedFont>
    <p:embeddedFont>
      <p:font typeface="Unbounded Black"/>
      <p:regular r:id="rId201319"/>
    </p:embeddedFont>
    <p:embeddedFont>
      <p:font typeface="Unbounded SemiBold"/>
      <p:regular r:id="rId2013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4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5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8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6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>
              <a:alpha val="70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#" TargetMode="External"/><Relationship Id="rId5" Type="http://schemas.openxmlformats.org/officeDocument/2006/relationships/hyperlink" Target="#" TargetMode="External"/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969889"/>
            <a:ext cx="616986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NeuroFlex VR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636341"/>
            <a:ext cx="6169863" cy="351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Evolución e Innovación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98086" y="3187700"/>
            <a:ext cx="677944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Llevando la neuro-rehabilitación inmersiva al siguiente nivel.</a:t>
            </a:r>
            <a:endParaRPr lang="en-US" sz="1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6236" y="1994793"/>
            <a:ext cx="2868243" cy="28683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3484" y="1529953"/>
            <a:ext cx="2848499" cy="3798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839788"/>
            <a:ext cx="774760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Propósito de NeuroFlex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4559186" y="1725613"/>
            <a:ext cx="25399" cy="3299321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6" name="Shape 3"/>
          <p:cNvSpPr/>
          <p:nvPr/>
        </p:nvSpPr>
        <p:spPr>
          <a:xfrm>
            <a:off x="672686" y="1725613"/>
            <a:ext cx="3873800" cy="1450181"/>
          </a:xfrm>
          <a:custGeom>
            <a:avLst/>
            <a:gdLst/>
            <a:ahLst/>
            <a:cxnLst/>
            <a:rect l="l" t="t" r="r" b="b"/>
            <a:pathLst>
              <a:path w="3873800" h="1450181">
                <a:moveTo>
                  <a:pt x="24935" y="0"/>
                </a:moveTo>
                <a:lnTo>
                  <a:pt x="3873800" y="0"/>
                </a:lnTo>
                <a:lnTo>
                  <a:pt x="3873800" y="1450181"/>
                </a:lnTo>
                <a:lnTo>
                  <a:pt x="24935" y="1450181"/>
                </a:lnTo>
                <a:arcTo hR="24935" wR="24935" stAng="5400000" swAng="5400000"/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872111" y="1925042"/>
            <a:ext cx="347495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 que ya esta hecho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72111" y="2337991"/>
            <a:ext cx="347495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Atrapar números en un entorno 3D y resolver operaciones matemáticas.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597285" y="3574752"/>
            <a:ext cx="3873800" cy="1450181"/>
          </a:xfrm>
          <a:custGeom>
            <a:avLst/>
            <a:gdLst/>
            <a:ahLst/>
            <a:cxnLst/>
            <a:rect l="l" t="t" r="r" b="b"/>
            <a:pathLst>
              <a:path w="3873800" h="1450181">
                <a:moveTo>
                  <a:pt x="0" y="0"/>
                </a:moveTo>
                <a:lnTo>
                  <a:pt x="3848865" y="0"/>
                </a:lnTo>
                <a:arcTo hR="24935" wR="24935" stAng="16200000" swAng="5400000"/>
                <a:lnTo>
                  <a:pt x="3873800" y="1425246"/>
                </a:lnTo>
                <a:arcTo hR="24935" wR="24935" stAng="0" swAng="5400000"/>
                <a:lnTo>
                  <a:pt x="0" y="1450181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0" name="Text 7"/>
          <p:cNvSpPr/>
          <p:nvPr/>
        </p:nvSpPr>
        <p:spPr>
          <a:xfrm>
            <a:off x="4796710" y="3774182"/>
            <a:ext cx="347495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796710" y="4187130"/>
            <a:ext cx="3474951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Ralentizar el deterioro cognitivo de forma interactiva y entretenida.</a:t>
            </a:r>
            <a:endParaRPr lang="en-US" sz="15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249267"/>
            <a:ext cx="7747600" cy="76884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24507" y="5474097"/>
            <a:ext cx="719635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Plataforma de estimulación cognitiva y física para adultos mayores.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4792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6009" y="1270595"/>
            <a:ext cx="774760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Prototipo Actual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3746009" y="2156420"/>
            <a:ext cx="1787282" cy="3430984"/>
          </a:xfrm>
          <a:prstGeom prst="roundRect">
            <a:avLst>
              <a:gd name="adj" fmla="val 1674"/>
            </a:avLst>
          </a:prstGeom>
          <a:solidFill>
            <a:srgbClr val="304755"/>
          </a:solidFill>
          <a:ln/>
        </p:spPr>
      </p:sp>
      <p:sp>
        <p:nvSpPr>
          <p:cNvPr id="5" name="Shape 2"/>
          <p:cNvSpPr/>
          <p:nvPr/>
        </p:nvSpPr>
        <p:spPr>
          <a:xfrm>
            <a:off x="3945434" y="2355850"/>
            <a:ext cx="598373" cy="59838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09935" y="2520355"/>
            <a:ext cx="269273" cy="269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45434" y="3153668"/>
            <a:ext cx="1388432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Proyecto recibido en fase avanzada (Nivel de madurez TRL 6).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5732716" y="2156420"/>
            <a:ext cx="1787381" cy="3430984"/>
          </a:xfrm>
          <a:prstGeom prst="roundRect">
            <a:avLst>
              <a:gd name="adj" fmla="val 1674"/>
            </a:avLst>
          </a:prstGeom>
          <a:solidFill>
            <a:srgbClr val="304755"/>
          </a:solidFill>
          <a:ln/>
        </p:spPr>
      </p:sp>
      <p:sp>
        <p:nvSpPr>
          <p:cNvPr id="9" name="Shape 5"/>
          <p:cNvSpPr/>
          <p:nvPr/>
        </p:nvSpPr>
        <p:spPr>
          <a:xfrm>
            <a:off x="5932141" y="2355850"/>
            <a:ext cx="598373" cy="59838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641" y="2520355"/>
            <a:ext cx="269273" cy="2692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32141" y="3153668"/>
            <a:ext cx="1388532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Trabajo destacado del equipo anterior Actividad VR funcional.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719522" y="2156420"/>
            <a:ext cx="1787282" cy="3430984"/>
          </a:xfrm>
          <a:prstGeom prst="roundRect">
            <a:avLst>
              <a:gd name="adj" fmla="val 1674"/>
            </a:avLst>
          </a:prstGeom>
          <a:solidFill>
            <a:srgbClr val="304755"/>
          </a:solidFill>
          <a:ln/>
        </p:spPr>
      </p:sp>
      <p:sp>
        <p:nvSpPr>
          <p:cNvPr id="13" name="Shape 8"/>
          <p:cNvSpPr/>
          <p:nvPr/>
        </p:nvSpPr>
        <p:spPr>
          <a:xfrm>
            <a:off x="7918946" y="2355850"/>
            <a:ext cx="598373" cy="59838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83447" y="2520355"/>
            <a:ext cx="269273" cy="2692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918946" y="3153668"/>
            <a:ext cx="1388432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Integración base probada exitosamente en entorno real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(CESFAM NUEVA AURORA).</a:t>
            </a:r>
            <a:endParaRPr lang="en-US" sz="1550" dirty="0"/>
          </a:p>
        </p:txBody>
      </p:sp>
      <p:sp>
        <p:nvSpPr>
          <p:cNvPr id="16" name="Shape 10"/>
          <p:cNvSpPr/>
          <p:nvPr/>
        </p:nvSpPr>
        <p:spPr>
          <a:xfrm>
            <a:off x="9706228" y="2156420"/>
            <a:ext cx="1787381" cy="3430984"/>
          </a:xfrm>
          <a:prstGeom prst="roundRect">
            <a:avLst>
              <a:gd name="adj" fmla="val 1674"/>
            </a:avLst>
          </a:prstGeom>
          <a:solidFill>
            <a:srgbClr val="304755"/>
          </a:solidFill>
          <a:ln/>
        </p:spPr>
      </p:sp>
      <p:sp>
        <p:nvSpPr>
          <p:cNvPr id="17" name="Shape 11"/>
          <p:cNvSpPr/>
          <p:nvPr/>
        </p:nvSpPr>
        <p:spPr>
          <a:xfrm>
            <a:off x="9905653" y="2355850"/>
            <a:ext cx="598373" cy="598388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70154" y="2520355"/>
            <a:ext cx="269273" cy="2692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905653" y="3153668"/>
            <a:ext cx="1388532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Plataforma validada con alta aceptación y usabilidad en pacientes.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3484" y="1529953"/>
            <a:ext cx="2848499" cy="3798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380232"/>
            <a:ext cx="774760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El Desafío</a:t>
            </a:r>
            <a:endParaRPr lang="en-US" sz="3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83" y="2266057"/>
            <a:ext cx="7696404" cy="32116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37217" y="2414065"/>
            <a:ext cx="2999659" cy="4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 actividad es lineal, sin progresión de dificultad.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237339" y="3459184"/>
            <a:ext cx="2999659" cy="617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 falta de un desafío progresivo reduce la estimulación cerebral.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237339" y="4537236"/>
            <a:ext cx="2999659" cy="411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Crear un sistema inteligente, escalonado y adaptable.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8124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Evolución de la Experiencia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891407"/>
            <a:ext cx="3462152" cy="346223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2427" y="3190974"/>
            <a:ext cx="4107950" cy="41080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73971" y="4264223"/>
            <a:ext cx="336542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2427" y="3190974"/>
            <a:ext cx="4107950" cy="410805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908132" y="3493988"/>
            <a:ext cx="336542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2427" y="3190974"/>
            <a:ext cx="4107950" cy="410805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242194" y="4264223"/>
            <a:ext cx="336542" cy="420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50" dirty="0"/>
          </a:p>
        </p:txBody>
      </p:sp>
      <p:sp>
        <p:nvSpPr>
          <p:cNvPr id="10" name="Text 4"/>
          <p:cNvSpPr/>
          <p:nvPr/>
        </p:nvSpPr>
        <p:spPr>
          <a:xfrm>
            <a:off x="4653144" y="2821583"/>
            <a:ext cx="208274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Sistema de Niveles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7035029" y="2498725"/>
            <a:ext cx="2082847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Adaptabilidad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417013" y="2821583"/>
            <a:ext cx="208274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Nuevo Escenario 3D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589683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Métricas</a:t>
            </a:r>
            <a:endParaRPr lang="en-US" sz="3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686" y="2450108"/>
            <a:ext cx="6249037" cy="3699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48309" y="2475508"/>
            <a:ext cx="59734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Nuevos desafíos requieren métricas más precisas para el área médica.</a:t>
            </a:r>
            <a:endParaRPr lang="en-US" sz="15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2686" y="3168253"/>
            <a:ext cx="6249037" cy="3699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8309" y="3193653"/>
            <a:ext cx="59734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Nivel Alcanzado: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Registro exacto de la dificultad máxima superada.</a:t>
            </a:r>
            <a:endParaRPr lang="en-US" sz="15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2686" y="3886398"/>
            <a:ext cx="6249037" cy="68917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48309" y="3911798"/>
            <a:ext cx="597341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Velocidad de Reacción: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Medición de tiempos de respuesta en segundos.</a:t>
            </a:r>
            <a:endParaRPr lang="en-US" sz="15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686" y="4923730"/>
            <a:ext cx="6249037" cy="36998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48309" y="4949130"/>
            <a:ext cx="597341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Tiempos por Fase: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Análisis detallado del tiempo físico vs. tiempo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90203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Metodología con SCRUM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4018558"/>
            <a:ext cx="10795524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4" name="Shape 2"/>
          <p:cNvSpPr/>
          <p:nvPr/>
        </p:nvSpPr>
        <p:spPr>
          <a:xfrm>
            <a:off x="2401431" y="3420219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5" name="Shape 3"/>
          <p:cNvSpPr/>
          <p:nvPr/>
        </p:nvSpPr>
        <p:spPr>
          <a:xfrm>
            <a:off x="2189802" y="3794175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73342" y="3877717"/>
            <a:ext cx="281576" cy="2815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7510" y="1876028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SPRINT 0 s1-s3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7510" y="2288977"/>
            <a:ext cx="3033438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Gestión, Levantamiento y Definición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42190" y="4018508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10" name="Shape 7"/>
          <p:cNvSpPr/>
          <p:nvPr/>
        </p:nvSpPr>
        <p:spPr>
          <a:xfrm>
            <a:off x="4030562" y="3794175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102" y="3877717"/>
            <a:ext cx="281576" cy="2815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38270" y="4816475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SPRINT 1 s4-s7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738270" y="5229423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Modelado Base e Investigación de IA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6083049" y="3420219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15" name="Shape 11"/>
          <p:cNvSpPr/>
          <p:nvPr/>
        </p:nvSpPr>
        <p:spPr>
          <a:xfrm>
            <a:off x="5871420" y="3794175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54960" y="3877717"/>
            <a:ext cx="281576" cy="2815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79128" y="1876028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SPRINT 2 s8-s11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4579128" y="2288977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Lógica de Dificultad y Entrenamiento de IA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923808" y="4018508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20" name="Shape 15"/>
          <p:cNvSpPr/>
          <p:nvPr/>
        </p:nvSpPr>
        <p:spPr>
          <a:xfrm>
            <a:off x="7712180" y="3794175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5720" y="3877717"/>
            <a:ext cx="281576" cy="2815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19888" y="4816475"/>
            <a:ext cx="303343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SPRINT 3 s12-s15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419888" y="5229423"/>
            <a:ext cx="303343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Refinamiento, Validación y Pruebas</a:t>
            </a:r>
            <a:endParaRPr lang="en-US" sz="1550" dirty="0"/>
          </a:p>
        </p:txBody>
      </p:sp>
      <p:sp>
        <p:nvSpPr>
          <p:cNvPr id="24" name="Shape 18"/>
          <p:cNvSpPr/>
          <p:nvPr/>
        </p:nvSpPr>
        <p:spPr>
          <a:xfrm>
            <a:off x="9764667" y="3420219"/>
            <a:ext cx="25399" cy="598388"/>
          </a:xfrm>
          <a:prstGeom prst="roundRect">
            <a:avLst>
              <a:gd name="adj" fmla="val 50001"/>
            </a:avLst>
          </a:prstGeom>
          <a:solidFill>
            <a:srgbClr val="49606E"/>
          </a:solidFill>
          <a:ln/>
        </p:spPr>
      </p:sp>
      <p:sp>
        <p:nvSpPr>
          <p:cNvPr id="25" name="Shape 19"/>
          <p:cNvSpPr/>
          <p:nvPr/>
        </p:nvSpPr>
        <p:spPr>
          <a:xfrm>
            <a:off x="9553038" y="3794175"/>
            <a:ext cx="448755" cy="448766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6578" y="3877717"/>
            <a:ext cx="281576" cy="2815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260746" y="1876028"/>
            <a:ext cx="303343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Cierre y Transferencia s16-s18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8260746" y="2582267"/>
            <a:ext cx="30334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Elaboración de la documentación de cierre del proyecto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7453"/>
            <a:ext cx="10795524" cy="495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Cronograma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7316" y="1285577"/>
            <a:ext cx="5157063" cy="45870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703560"/>
            <a:ext cx="3293286" cy="219342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4656" y="689471"/>
            <a:ext cx="5215303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Factibilidad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284656" y="1241623"/>
            <a:ext cx="5215303" cy="787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Base preexistente: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Proyecto previo funcional (TRL 6) listo para iterar e innovar.</a:t>
            </a:r>
            <a:endParaRPr lang="en-US" sz="900" dirty="0"/>
          </a:p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Convenio vigente: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Contacto activo y espacio validado en CESFAM Nueva Aurora.</a:t>
            </a:r>
            <a:endParaRPr lang="en-US" sz="900" dirty="0"/>
          </a:p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Recursos disponibles: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Visores Meta Quest 3 y código base en repositorios.</a:t>
            </a:r>
            <a:endParaRPr lang="en-US" sz="900" dirty="0"/>
          </a:p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Bajo costo Cloud: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Modelo Serverless de solo USD 2,50 mensuales.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98086" y="4081661"/>
            <a:ext cx="6108051" cy="44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Tecnologias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98086" y="4633813"/>
            <a:ext cx="6108051" cy="787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Unity &amp; C#: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Entornos VR y mecánicas interactivas.</a:t>
            </a:r>
            <a:endParaRPr lang="en-US" sz="900" dirty="0"/>
          </a:p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AWS Serverless: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Lambda, API Gateway, DynamoDB y S3.</a:t>
            </a:r>
            <a:endParaRPr lang="en-US" sz="900" dirty="0"/>
          </a:p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Python: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Entrenamiento del modelo de Inteligencia Artificial.</a:t>
            </a:r>
            <a:endParaRPr lang="en-US" sz="900" dirty="0"/>
          </a:p>
          <a:p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Web (React/Vue) &amp; Cognito:</a:t>
            </a:r>
            <a:pPr algn="l" marL="182880" indent="-182880">
              <a:lnSpc>
                <a:spcPct val="117000"/>
              </a:lnSpc>
              <a:buSzPct val="100000"/>
              <a:buChar char="•"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Dashboard clínico y accesos seguros.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7404" y="3275608"/>
            <a:ext cx="4322456" cy="28788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00014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Roles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685653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2885083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Sebastián Calderón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3298031"/>
            <a:ext cx="30666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Especialista en Inteligencia Artificial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2685653"/>
            <a:ext cx="3465525" cy="1450181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7" name="Text 5"/>
          <p:cNvSpPr/>
          <p:nvPr/>
        </p:nvSpPr>
        <p:spPr>
          <a:xfrm>
            <a:off x="4562460" y="2885083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Alex Armijo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2460" y="3298031"/>
            <a:ext cx="30666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Arquitectura Cloud &amp; Ciberseguridad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2685653"/>
            <a:ext cx="3465624" cy="1450181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10" name="Text 8"/>
          <p:cNvSpPr/>
          <p:nvPr/>
        </p:nvSpPr>
        <p:spPr>
          <a:xfrm>
            <a:off x="8227410" y="2885083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Felix Astudillo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7410" y="3298031"/>
            <a:ext cx="3066775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Front-end y Modelado de escenarios.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4360168"/>
            <a:ext cx="10795524" cy="797719"/>
          </a:xfrm>
          <a:prstGeom prst="roundRect">
            <a:avLst>
              <a:gd name="adj" fmla="val 3751"/>
            </a:avLst>
          </a:prstGeom>
          <a:solidFill>
            <a:srgbClr val="08786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4650780"/>
            <a:ext cx="249330" cy="19943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46266" y="4609405"/>
            <a:ext cx="10557504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Respaldo institucional: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Duoc UC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Validación previa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TRL 6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3484" y="1529953"/>
            <a:ext cx="2848499" cy="3798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105297"/>
            <a:ext cx="774760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Llevando la rehabilitación al siguiente nivel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98086" y="2577802"/>
            <a:ext cx="7747600" cy="1409700"/>
          </a:xfrm>
          <a:prstGeom prst="roundRect">
            <a:avLst>
              <a:gd name="adj" fmla="val 2123"/>
            </a:avLst>
          </a:prstGeom>
          <a:solidFill>
            <a:srgbClr val="304755"/>
          </a:solidFill>
          <a:ln/>
        </p:spPr>
      </p:sp>
      <p:sp>
        <p:nvSpPr>
          <p:cNvPr id="6" name="Shape 3"/>
          <p:cNvSpPr/>
          <p:nvPr/>
        </p:nvSpPr>
        <p:spPr>
          <a:xfrm>
            <a:off x="698086" y="2577802"/>
            <a:ext cx="7747600" cy="704850"/>
          </a:xfrm>
          <a:custGeom>
            <a:avLst/>
            <a:gdLst/>
            <a:ahLst/>
            <a:cxnLst/>
            <a:rect l="l" t="t" r="r" b="b"/>
            <a:pathLst>
              <a:path w="7747600" h="704850">
                <a:moveTo>
                  <a:pt x="24935" y="0"/>
                </a:moveTo>
                <a:lnTo>
                  <a:pt x="7722665" y="0"/>
                </a:lnTo>
                <a:arcTo hR="24935" wR="24935" stAng="16200000" swAng="5400000"/>
                <a:lnTo>
                  <a:pt x="7747600" y="704850"/>
                </a:lnTo>
                <a:lnTo>
                  <a:pt x="0" y="704850"/>
                </a:lnTo>
                <a:lnTo>
                  <a:pt x="0" y="24935"/>
                </a:lnTo>
                <a:arcTo hR="24935" wR="24935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7" name="Text 4"/>
          <p:cNvSpPr/>
          <p:nvPr/>
        </p:nvSpPr>
        <p:spPr>
          <a:xfrm>
            <a:off x="897510" y="2777232"/>
            <a:ext cx="7348751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📈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Mayor Eficiencia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98086" y="3282652"/>
            <a:ext cx="7747600" cy="704850"/>
          </a:xfrm>
          <a:custGeom>
            <a:avLst/>
            <a:gdLst/>
            <a:ahLst/>
            <a:cxnLst/>
            <a:rect l="l" t="t" r="r" b="b"/>
            <a:pathLst>
              <a:path w="7747600" h="704850">
                <a:moveTo>
                  <a:pt x="0" y="0"/>
                </a:moveTo>
                <a:lnTo>
                  <a:pt x="7747600" y="0"/>
                </a:lnTo>
                <a:lnTo>
                  <a:pt x="7747600" y="679915"/>
                </a:lnTo>
                <a:arcTo hR="24935" wR="24935" stAng="0" swAng="5400000"/>
                <a:lnTo>
                  <a:pt x="24935" y="704850"/>
                </a:lnTo>
                <a:arcTo hR="24935" wR="24935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698086" y="3282652"/>
            <a:ext cx="7747600" cy="25400"/>
          </a:xfrm>
          <a:prstGeom prst="roundRect">
            <a:avLst>
              <a:gd name="adj" fmla="val 49999"/>
            </a:avLst>
          </a:prstGeom>
          <a:solidFill>
            <a:srgbClr val="49606E"/>
          </a:solidFill>
          <a:ln/>
        </p:spPr>
      </p:sp>
      <p:sp>
        <p:nvSpPr>
          <p:cNvPr id="10" name="Text 7"/>
          <p:cNvSpPr/>
          <p:nvPr/>
        </p:nvSpPr>
        <p:spPr>
          <a:xfrm>
            <a:off x="897510" y="3482082"/>
            <a:ext cx="7348751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❤️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Mejor Calidad de Vida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97223" y="4436170"/>
            <a:ext cx="805804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¿Agendamos un piloto en su centro?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98086" y="4211836"/>
            <a:ext cx="25399" cy="767854"/>
          </a:xfrm>
          <a:prstGeom prst="roundRect">
            <a:avLst>
              <a:gd name="adj" fmla="val 50001"/>
            </a:avLst>
          </a:prstGeom>
          <a:solidFill>
            <a:srgbClr val="0A988B"/>
          </a:solidFill>
          <a:ln/>
        </p:spPr>
      </p:sp>
      <p:pic>
        <p:nvPicPr>
          <p:cNvPr id="1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5204023"/>
            <a:ext cx="1144162" cy="548580"/>
          </a:xfrm>
          <a:prstGeom prst="rect">
            <a:avLst/>
          </a:prstGeom>
        </p:spPr>
      </p:pic>
      <p:pic>
        <p:nvPicPr>
          <p:cNvPr id="14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1960" y="5204023"/>
            <a:ext cx="5561766" cy="5485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2026-09-08T01:13:40Z</dcterms:created>
  <dcterms:modified xsi:type="dcterms:W3CDTF">2026-09-08T01:13:40Z</dcterms:modified>
</cp:coreProperties>
</file>